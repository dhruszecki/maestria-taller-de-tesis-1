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17320"/>
            <a:ext cx="1005840" cy="0"/>
          </a:xfrm>
          <a:prstGeom prst="line">
            <a:avLst/>
          </a:prstGeom>
          <a:noFill/>
          <a:ln w="50800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1417320"/>
            <a:ext cx="594360" cy="0"/>
          </a:xfrm>
          <a:prstGeom prst="line">
            <a:avLst/>
          </a:prstGeom>
          <a:noFill/>
          <a:ln w="508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adopción de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IA en desarrolladores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Developer Survey  ·  2023 + 2024 + 2025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Tesis I  ·  Grupo G2  ·  FCEyN, UBA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  ·  26 de marzo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70432"/>
            <a:ext cx="82296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1170432"/>
            <a:ext cx="502920" cy="0"/>
          </a:xfrm>
          <a:prstGeom prst="line">
            <a:avLst/>
          </a:prstGeom>
          <a:noFill/>
          <a:ln w="381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y Pregunta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de herramientas de IA en el desarrollo de software creció exponencialmente desde 2022. Sin embargo, la tasa de abandono es alta: muchos developers prueban Copilot o Cursor y los dejan.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2011680" cy="1417320"/>
          </a:xfrm>
          <a:prstGeom prst="rect">
            <a:avLst/>
          </a:prstGeom>
          <a:solidFill>
            <a:srgbClr val="E8F4F2"/>
          </a:solidFill>
          <a:ln w="1016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30906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Adoptante sostenido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34290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IA activamente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actitud favorable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2011680" cy="1417320"/>
          </a:xfrm>
          <a:prstGeom prst="rect">
            <a:avLst/>
          </a:prstGeom>
          <a:solidFill>
            <a:srgbClr val="F2F4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30906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adoptante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52928" y="342900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usa, abandona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actitud negativa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749040" cy="2651760"/>
          </a:xfrm>
          <a:prstGeom prst="rect">
            <a:avLst/>
          </a:prstGeom>
          <a:solidFill>
            <a:srgbClr val="F2F4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9933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3317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características del perfil profesional de un desarrollador predicen su adopción sostenida de herramientas de programación asistida por IA?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7492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Fundamento: Technology Acceptance Model (Davis, 1989)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70432"/>
            <a:ext cx="82296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1170432"/>
            <a:ext cx="502920" cy="0"/>
          </a:xfrm>
          <a:prstGeom prst="line">
            <a:avLst/>
          </a:prstGeom>
          <a:noFill/>
          <a:ln w="381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Stack Overflow Developer Survey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survey.stackoverflow.co  ·  Licencia ODbL (abierta)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4251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ediciones consecutivas: 2023, 2024 y 2025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~250.000 respuestas combinadas de desarrolladores globales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en +180 países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específico de IA incluido desde 2023 (AISelect, AIAcc, AISent, AIBen)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abierta — resultados totalmente reproducibles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74920" y="2011680"/>
            <a:ext cx="1234440" cy="2468880"/>
          </a:xfrm>
          <a:prstGeom prst="rect">
            <a:avLst/>
          </a:prstGeom>
          <a:solidFill>
            <a:srgbClr val="E8F4F2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2487168"/>
            <a:ext cx="960120" cy="0"/>
          </a:xfrm>
          <a:prstGeom prst="line">
            <a:avLst/>
          </a:prstGeom>
          <a:noFill/>
          <a:ln w="6350">
            <a:solidFill>
              <a:srgbClr val="2E9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25603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~89k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8072" y="32735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8072" y="3986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28232" y="2011680"/>
            <a:ext cx="1234440" cy="2468880"/>
          </a:xfrm>
          <a:prstGeom prst="rect">
            <a:avLst/>
          </a:prstGeom>
          <a:solidFill>
            <a:srgbClr val="FDF3EC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65392" y="2487168"/>
            <a:ext cx="960120" cy="0"/>
          </a:xfrm>
          <a:prstGeom prst="line">
            <a:avLst/>
          </a:prstGeom>
          <a:noFill/>
          <a:ln w="635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5603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~65k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01384" y="32735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01384" y="3986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81544" y="2011680"/>
            <a:ext cx="1234440" cy="2468880"/>
          </a:xfrm>
          <a:prstGeom prst="rect">
            <a:avLst/>
          </a:prstGeom>
          <a:solidFill>
            <a:srgbClr val="F2F4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81544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18704" y="2487168"/>
            <a:ext cx="96012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54696" y="256032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54696" y="327355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~90+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54696" y="3986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4645152"/>
            <a:ext cx="3566160" cy="0"/>
          </a:xfrm>
          <a:prstGeom prst="line">
            <a:avLst/>
          </a:prstGeom>
          <a:noFill/>
          <a:ln w="19050">
            <a:solidFill>
              <a:srgbClr val="2E9E8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937760" y="4681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Unificados en un único dataset con columna survey_year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70432"/>
            <a:ext cx="82296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1170432"/>
            <a:ext cx="502920" cy="0"/>
          </a:xfrm>
          <a:prstGeom prst="line">
            <a:avLst/>
          </a:prstGeom>
          <a:noFill/>
          <a:ln w="381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target y features predictoras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4069080" cy="1325880"/>
          </a:xfrm>
          <a:prstGeom prst="rect">
            <a:avLst/>
          </a:prstGeom>
          <a:solidFill>
            <a:srgbClr val="E8F4F2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47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 (adoptante sostenido)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AISelect = usa IA  +  AIAcc = actitud favorable/muy favorable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273552"/>
            <a:ext cx="4069080" cy="914400"/>
          </a:xfrm>
          <a:prstGeom prst="rect">
            <a:avLst/>
          </a:prstGeom>
          <a:solidFill>
            <a:srgbClr val="F2F4F5"/>
          </a:solidFill>
          <a:ln w="1016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  (no adoptante)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IA, o la usa con actitud negativa/neutral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predictoras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2677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08192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DevType · YearsCodePro · EdLevel · Employment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laboral: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8192" y="2660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OrgSize · Country · WorkExp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0540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08192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LanguageHaveWorkedWith · IDEs · Cloud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4472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08192" y="34472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CompTotal (salario aproximado)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08192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survey_year (2023 / 2024 / 2025)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survey_year como feature permite capturar la evolución de la adopción 2023→2025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70432"/>
            <a:ext cx="82296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1170432"/>
            <a:ext cx="502920" cy="0"/>
          </a:xfrm>
          <a:prstGeom prst="line">
            <a:avLst/>
          </a:prstGeom>
          <a:noFill/>
          <a:ln w="381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y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019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Análisis Exploratorio de 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21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por año / rol / país / 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437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Segmentación (Clustering)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638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sobre perfil profesional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para k óptimo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856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Clasificación supervisada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056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Random Forest · XGBoost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379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· ROC-AUC · F1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274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0474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— ranking de features predictoras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874520"/>
            <a:ext cx="1737360" cy="658368"/>
          </a:xfrm>
          <a:prstGeom prst="rect">
            <a:avLst/>
          </a:prstGeom>
          <a:solidFill>
            <a:srgbClr val="EBF3FB"/>
          </a:solidFill>
          <a:ln w="7620">
            <a:solidFill>
              <a:srgbClr val="377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745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49440" y="1874520"/>
            <a:ext cx="1737360" cy="658368"/>
          </a:xfrm>
          <a:prstGeom prst="rect">
            <a:avLst/>
          </a:prstGeom>
          <a:solidFill>
            <a:srgbClr val="FEF3E8"/>
          </a:solidFill>
          <a:ln w="7620">
            <a:solidFill>
              <a:srgbClr val="F793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8745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9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0" y="2715768"/>
            <a:ext cx="1737360" cy="658368"/>
          </a:xfrm>
          <a:prstGeom prst="rect">
            <a:avLst/>
          </a:prstGeom>
          <a:solidFill>
            <a:srgbClr val="E8F6FA"/>
          </a:solidFill>
          <a:ln w="7620">
            <a:solidFill>
              <a:srgbClr val="189A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1576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9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2715768"/>
            <a:ext cx="1737360" cy="658368"/>
          </a:xfrm>
          <a:prstGeom prst="rect">
            <a:avLst/>
          </a:prstGeom>
          <a:solidFill>
            <a:srgbClr val="EEEAF8"/>
          </a:solidFill>
          <a:ln w="7620">
            <a:solidFill>
              <a:srgbClr val="1504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71576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0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0" y="3557016"/>
            <a:ext cx="1737360" cy="658368"/>
          </a:xfrm>
          <a:prstGeom prst="rect">
            <a:avLst/>
          </a:prstGeom>
          <a:solidFill>
            <a:srgbClr val="E8F4F2"/>
          </a:solidFill>
          <a:ln w="7620">
            <a:solidFill>
              <a:srgbClr val="2E9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55701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949440" y="3557016"/>
            <a:ext cx="1737360" cy="658368"/>
          </a:xfrm>
          <a:prstGeom prst="rect">
            <a:avLst/>
          </a:prstGeom>
          <a:solidFill>
            <a:srgbClr val="EBF0F9"/>
          </a:solidFill>
          <a:ln w="7620">
            <a:solidFill>
              <a:srgbClr val="4C72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55701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C7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EAEB"/>
          </a:solidFill>
          <a:ln w="12700">
            <a:solidFill>
              <a:srgbClr val="E8EA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70432"/>
            <a:ext cx="822960" cy="0"/>
          </a:xfrm>
          <a:prstGeom prst="line">
            <a:avLst/>
          </a:prstGeom>
          <a:noFill/>
          <a:ln w="381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5024" y="1170432"/>
            <a:ext cx="502920" cy="0"/>
          </a:xfrm>
          <a:prstGeom prst="line">
            <a:avLst/>
          </a:prstGeom>
          <a:noFill/>
          <a:ln w="381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Hipótesis iniciales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566928" cy="804672"/>
          </a:xfrm>
          <a:prstGeom prst="rect">
            <a:avLst/>
          </a:prstGeom>
          <a:solidFill>
            <a:srgbClr val="E8F4F2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3852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975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 stack tecnológico son más predictivos que la experiencia o nivel educativo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322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ML engineer con TypeScript + VS Code tendrá mayor probabilidad de adopción que un dev senior con stack legacy.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566928" cy="804672"/>
          </a:xfrm>
          <a:prstGeom prst="rect">
            <a:avLst/>
          </a:prstGeom>
          <a:solidFill>
            <a:srgbClr val="E8F4F2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9864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93522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en organizaciones grandes (+500 empleados) adoptan más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32826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grandes tienen más recursos para licencias y formación, lo que facilita la adopción sostenida.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566928" cy="804672"/>
          </a:xfrm>
          <a:prstGeom prst="rect">
            <a:avLst/>
          </a:prstGeom>
          <a:solidFill>
            <a:srgbClr val="FDF3EC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58768"/>
            <a:ext cx="5669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389534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creció consistentemente de 2023 a 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42428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survey_year será una feature predictiva relevante, reflejando la maduración del mercado de herramientas de IA.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confirmar o refutar con el EDA y los modelos — Entrega 2 (10 de mayo)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17320"/>
            <a:ext cx="1005840" cy="0"/>
          </a:xfrm>
          <a:prstGeom prst="line">
            <a:avLst/>
          </a:prstGeom>
          <a:noFill/>
          <a:ln w="50800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904" y="1417320"/>
            <a:ext cx="594360" cy="0"/>
          </a:xfrm>
          <a:prstGeom prst="line">
            <a:avLst/>
          </a:prstGeom>
          <a:noFill/>
          <a:ln w="508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a feedback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duda concreta para el grupo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8138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788920"/>
            <a:ext cx="91440" cy="1325880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34640"/>
            <a:ext cx="7726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Decidí unificar 2023 + 2024 + 2025 en un único dataset, usando survey_year como feature. ¿Ven algún problema metodológico con este enfoque, o consideran que sería más valioso modelar cada año por separado y comparar los resultados?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SO Survey 2023 + 2024 + 2025  ·  Entrega 1: 5 de abril de 2026  ·  G2 — FCEyN UBA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adopción de IA en desarrolladores — G2</dc:title>
  <dc:subject>PptxGenJS Presentation</dc:subject>
  <dc:creator>PptxGenJS</dc:creator>
  <cp:lastModifiedBy>PptxGenJS</cp:lastModifiedBy>
  <cp:revision>1</cp:revision>
  <dcterms:created xsi:type="dcterms:W3CDTF">2026-03-21T20:50:41Z</dcterms:created>
  <dcterms:modified xsi:type="dcterms:W3CDTF">2026-03-21T20:50:41Z</dcterms:modified>
</cp:coreProperties>
</file>